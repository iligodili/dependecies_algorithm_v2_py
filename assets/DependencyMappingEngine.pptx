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572000" cy="2286000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474720"/>
            <a:ext cx="3200400" cy="2286000"/>
          </a:xfrm>
          <a:prstGeom prst="rect">
            <a:avLst/>
          </a:prstGeom>
          <a:solidFill>
            <a:srgbClr val="FF4D6D">
              <a:alpha val="18000"/>
            </a:srgbClr>
          </a:solidFill>
          <a:ln w="12700">
            <a:solidFill>
              <a:srgbClr val="FF4D6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95728"/>
            <a:ext cx="9144000" cy="27432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74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1089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4FF"/>
                </a:solidFill>
              </a:rPr>
              <a:t>IDEATION ROUND  •  2025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686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DEPENDENCY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4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MAPPING ENGINE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457200" y="2651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EC5"/>
                </a:solidFill>
              </a:rPr>
              <a:t>"We don't just analyze data — we understand how everything connects."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4297680"/>
            <a:ext cx="2606040" cy="475488"/>
          </a:xfrm>
          <a:prstGeom prst="rect">
            <a:avLst/>
          </a:prstGeom>
          <a:solidFill>
            <a:srgbClr val="7B2FFF">
              <a:alpha val="25000"/>
            </a:srgbClr>
          </a:solidFill>
          <a:ln w="12700">
            <a:solidFill>
              <a:srgbClr val="7B2FFF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" y="431596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Relationship Analyzer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4297680"/>
            <a:ext cx="2606040" cy="475488"/>
          </a:xfrm>
          <a:prstGeom prst="rect">
            <a:avLst/>
          </a:prstGeom>
          <a:solidFill>
            <a:srgbClr val="FF4D6D">
              <a:alpha val="25000"/>
            </a:srgbClr>
          </a:solidFill>
          <a:ln w="12700">
            <a:solidFill>
              <a:srgbClr val="FF4D6D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01568" y="431596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Disaster Dependency Focus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26480" y="4297680"/>
            <a:ext cx="2606040" cy="475488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>
                <a:alpha val="70000"/>
              </a:srgbClr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36208" y="431596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First-of-its-kind Product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98080" y="914400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845552" y="914400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93024" y="914400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498080" y="1261872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45552" y="1261872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193024" y="1261872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0" y="1609344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45552" y="1609344"/>
            <a:ext cx="164592" cy="164592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4D6D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7772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Real-world disasters don't happen in isolation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217920" y="1554480"/>
            <a:ext cx="2651760" cy="3108960"/>
          </a:xfrm>
          <a:prstGeom prst="rect">
            <a:avLst/>
          </a:prstGeom>
          <a:solidFill>
            <a:srgbClr val="141E30"/>
          </a:solidFill>
          <a:ln w="1905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263640" y="17830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4D6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$520B+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Annual global disaster losses from cascading failures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537960" y="3310128"/>
            <a:ext cx="2011680" cy="1828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34290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</a:rPr>
              <a:t>78% of major disasters trigger secondary events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1572768"/>
            <a:ext cx="5577840" cy="8686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773936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24712" y="16642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Hidden Dependencies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24712" y="19933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Critical links between events are invisible to human analysts under pressure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11480" y="2578608"/>
            <a:ext cx="5577840" cy="8686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779776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24712" y="26700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Cascade Blindness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24712" y="29992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A flood triggers a power outage → hospital failures → supply chain collapse. Humans miss this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11480" y="3584448"/>
            <a:ext cx="5577840" cy="8686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785616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24712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Reactive, Not Predictive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124712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Decisions are made AFTER damage occurs — not before, when it matters most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3474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8229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AI-Powered Dependency Mapping Engine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11480" y="1508760"/>
            <a:ext cx="8321040" cy="841248"/>
          </a:xfrm>
          <a:prstGeom prst="rect">
            <a:avLst/>
          </a:prstGeom>
          <a:solidFill>
            <a:srgbClr val="141E3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5819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4D6D"/>
                </a:solidFill>
              </a:rPr>
              <a:t> If X happens </a:t>
            </a:r>
            <a:pPr algn="ctr" indent="0" marL="0">
              <a:buNone/>
            </a:pPr>
            <a:r>
              <a:rPr lang="en-US" sz="1700" b="1" dirty="0">
                <a:solidFill>
                  <a:srgbClr val="B0BEC5"/>
                </a:solidFill>
              </a:rPr>
              <a:t>  →  </a:t>
            </a:r>
            <a:pPr algn="ctr" indent="0" marL="0">
              <a:buNone/>
            </a:pPr>
            <a:r>
              <a:rPr lang="en-US" sz="1700" b="1" dirty="0">
                <a:solidFill>
                  <a:srgbClr val="00D4FF"/>
                </a:solidFill>
              </a:rPr>
              <a:t>what else gets affected?</a:t>
            </a:r>
            <a:pPr algn="ctr" indent="0" marL="0">
              <a:buNone/>
            </a:pPr>
            <a:r>
              <a:rPr lang="en-US" sz="1400" i="1" dirty="0">
                <a:solidFill>
                  <a:srgbClr val="546E7A"/>
                </a:solidFill>
              </a:rPr>
              <a:t>   — our engine answers this in real-time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11480" y="2542032"/>
            <a:ext cx="4023360" cy="1033272"/>
          </a:xfrm>
          <a:prstGeom prst="rect">
            <a:avLst/>
          </a:prstGeom>
          <a:solidFill>
            <a:srgbClr val="141E30"/>
          </a:solidFill>
          <a:ln w="1524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2542032"/>
            <a:ext cx="182880" cy="10332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81635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Multi-Variable Input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234440" y="3017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Events, behaviors &amp; sensor data ingested simultaneously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2542032"/>
            <a:ext cx="4023360" cy="1033272"/>
          </a:xfrm>
          <a:prstGeom prst="rect">
            <a:avLst/>
          </a:prstGeom>
          <a:solidFill>
            <a:srgbClr val="141E30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63440" y="2542032"/>
            <a:ext cx="182880" cy="10332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281635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0" y="26517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Dependency Detection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86400" y="301752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Graph algorithms uncover hidden causal chains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11480" y="3712464"/>
            <a:ext cx="4023360" cy="1033272"/>
          </a:xfrm>
          <a:prstGeom prst="rect">
            <a:avLst/>
          </a:prstGeom>
          <a:solidFill>
            <a:srgbClr val="141E30"/>
          </a:solidFill>
          <a:ln w="1524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1480" y="3712464"/>
            <a:ext cx="182880" cy="10332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986784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3822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Visual Relationship Graph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234440" y="41879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Interactive nodes &amp; edges showing real-time impact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63440" y="3712464"/>
            <a:ext cx="4023360" cy="1033272"/>
          </a:xfrm>
          <a:prstGeom prst="rect">
            <a:avLst/>
          </a:prstGeom>
          <a:solidFill>
            <a:srgbClr val="141E30"/>
          </a:solidFill>
          <a:ln w="1524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3712464"/>
            <a:ext cx="182880" cy="10332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3986784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86400" y="3822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Prediction Engine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5486400" y="418795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Forecast secondary disasters before they strike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371600"/>
            <a:ext cx="3657600" cy="2743200"/>
          </a:xfrm>
          <a:prstGeom prst="ellipse">
            <a:avLst/>
          </a:prstGeom>
          <a:solidFill>
            <a:srgbClr val="7B2FFF">
              <a:alpha val="12000"/>
            </a:srgbClr>
          </a:solidFill>
          <a:ln w="12700">
            <a:solidFill>
              <a:srgbClr val="7B2FFF">
                <a:alpha val="12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4128" y="2743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</a:rPr>
              <a:t>PROTOTYPE DOMAIN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Disaster Dependency Mapping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56032" y="1536192"/>
            <a:ext cx="1261872" cy="1261872"/>
          </a:xfrm>
          <a:prstGeom prst="ellipse">
            <a:avLst/>
          </a:prstGeom>
          <a:solidFill>
            <a:srgbClr val="FF4D6D">
              <a:alpha val="28000"/>
            </a:srgbClr>
          </a:solidFill>
          <a:ln w="2540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0784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" y="23408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4D6D"/>
                </a:solidFill>
              </a:rPr>
              <a:t>EARTHQUAKE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1536192" y="2103120"/>
            <a:ext cx="411480" cy="1097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883664" y="2075688"/>
            <a:ext cx="155448" cy="1554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993392" y="1536192"/>
            <a:ext cx="1261872" cy="1261872"/>
          </a:xfrm>
          <a:prstGeom prst="ellipse">
            <a:avLst/>
          </a:prstGeom>
          <a:solidFill>
            <a:srgbClr val="7B2FFF">
              <a:alpha val="28000"/>
            </a:srgbClr>
          </a:solidFill>
          <a:ln w="254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1700784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83664" y="23408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B2FFF"/>
                </a:solidFill>
              </a:rPr>
              <a:t>DAM BREAK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273552" y="2103120"/>
            <a:ext cx="411480" cy="1097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621024" y="2075688"/>
            <a:ext cx="155448" cy="1554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730752" y="1536192"/>
            <a:ext cx="1261872" cy="1261872"/>
          </a:xfrm>
          <a:prstGeom prst="ellipse">
            <a:avLst/>
          </a:prstGeom>
          <a:solidFill>
            <a:srgbClr val="00D4FF">
              <a:alpha val="28000"/>
            </a:srgbClr>
          </a:solidFill>
          <a:ln w="254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088" y="1700784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21024" y="23408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D4FF"/>
                </a:solidFill>
              </a:rPr>
              <a:t>FLOODING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5010912" y="2103120"/>
            <a:ext cx="411480" cy="1097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58384" y="2075688"/>
            <a:ext cx="155448" cy="1554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68112" y="1536192"/>
            <a:ext cx="1261872" cy="1261872"/>
          </a:xfrm>
          <a:prstGeom prst="ellipse">
            <a:avLst/>
          </a:prstGeom>
          <a:solidFill>
            <a:srgbClr val="FFB703">
              <a:alpha val="28000"/>
            </a:srgbClr>
          </a:solidFill>
          <a:ln w="25400">
            <a:solidFill>
              <a:srgbClr val="FFB70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1700784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58384" y="23408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703"/>
                </a:solidFill>
              </a:rPr>
              <a:t>POWER LOSS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748272" y="2103120"/>
            <a:ext cx="411480" cy="10972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7095744" y="2075688"/>
            <a:ext cx="155448" cy="155448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205472" y="1536192"/>
            <a:ext cx="1261872" cy="1261872"/>
          </a:xfrm>
          <a:prstGeom prst="ellipse">
            <a:avLst/>
          </a:prstGeom>
          <a:solidFill>
            <a:srgbClr val="06D6A0">
              <a:alpha val="28000"/>
            </a:srgbClr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1700784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95744" y="2340864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D6A0"/>
                </a:solidFill>
              </a:rPr>
              <a:t>HOSPITAL FAIL</a:t>
            </a:r>
            <a:endParaRPr lang="en-US" sz="900" dirty="0"/>
          </a:p>
        </p:txBody>
      </p:sp>
      <p:sp>
        <p:nvSpPr>
          <p:cNvPr id="29" name="Shape 21"/>
          <p:cNvSpPr/>
          <p:nvPr/>
        </p:nvSpPr>
        <p:spPr>
          <a:xfrm>
            <a:off x="384048" y="3218688"/>
            <a:ext cx="2697480" cy="1536192"/>
          </a:xfrm>
          <a:prstGeom prst="rect">
            <a:avLst/>
          </a:prstGeom>
          <a:solidFill>
            <a:srgbClr val="141E30"/>
          </a:solidFill>
          <a:ln w="1778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384048" y="3218688"/>
            <a:ext cx="2697480" cy="201168"/>
          </a:xfrm>
          <a:prstGeom prst="rect">
            <a:avLst/>
          </a:prstGeom>
          <a:solidFill>
            <a:srgbClr val="FF4D6D">
              <a:alpha val="45000"/>
            </a:srgbClr>
          </a:solidFill>
          <a:ln w="12700">
            <a:solidFill>
              <a:srgbClr val="FF4D6D">
                <a:alpha val="4500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" y="3602736"/>
            <a:ext cx="411480" cy="41148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24128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Trigger Detection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521208" y="40782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Identify initial disaster event + magnitude</a:t>
            </a:r>
            <a:endParaRPr lang="en-US" sz="1100" dirty="0"/>
          </a:p>
        </p:txBody>
      </p:sp>
      <p:sp>
        <p:nvSpPr>
          <p:cNvPr id="34" name="Shape 25"/>
          <p:cNvSpPr/>
          <p:nvPr/>
        </p:nvSpPr>
        <p:spPr>
          <a:xfrm>
            <a:off x="3264408" y="3218688"/>
            <a:ext cx="2697480" cy="1536192"/>
          </a:xfrm>
          <a:prstGeom prst="rect">
            <a:avLst/>
          </a:prstGeom>
          <a:solidFill>
            <a:srgbClr val="141E30"/>
          </a:solidFill>
          <a:ln w="1778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264408" y="3218688"/>
            <a:ext cx="2697480" cy="201168"/>
          </a:xfrm>
          <a:prstGeom prst="rect">
            <a:avLst/>
          </a:prstGeom>
          <a:solidFill>
            <a:srgbClr val="7B2FFF">
              <a:alpha val="45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3602736"/>
            <a:ext cx="411480" cy="4114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3904488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Chain Mapping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3401568" y="40782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Graph engine traces ALL downstream dependencies in real-time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6144768" y="3218688"/>
            <a:ext cx="2697480" cy="1536192"/>
          </a:xfrm>
          <a:prstGeom prst="rect">
            <a:avLst/>
          </a:prstGeom>
          <a:solidFill>
            <a:srgbClr val="141E30"/>
          </a:solidFill>
          <a:ln w="1778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6144768" y="3218688"/>
            <a:ext cx="2697480" cy="201168"/>
          </a:xfrm>
          <a:prstGeom prst="rect">
            <a:avLst/>
          </a:prstGeom>
          <a:solidFill>
            <a:srgbClr val="06D6A0">
              <a:alpha val="45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3602736"/>
            <a:ext cx="411480" cy="4114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84848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Impact Prediction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6281928" y="407822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</a:rPr>
              <a:t>Rank affected sectors by severity and time horizon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D6A0"/>
                </a:solidFill>
              </a:rPr>
              <a:t>TECHNOLOGY STACK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Purpose-built for graph AI &amp; real-time analysis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84048" y="1508760"/>
            <a:ext cx="4023360" cy="1481328"/>
          </a:xfrm>
          <a:prstGeom prst="rect">
            <a:avLst/>
          </a:prstGeom>
          <a:solidFill>
            <a:srgbClr val="141E30"/>
          </a:solidFill>
          <a:ln w="1651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84048" y="1508760"/>
            <a:ext cx="4023360" cy="365760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5448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8424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1248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React.js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1343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248" y="2295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D3.js graphs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642616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1248" y="2624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Interactive UI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4636008" y="1508760"/>
            <a:ext cx="4023360" cy="1481328"/>
          </a:xfrm>
          <a:prstGeom prst="rect">
            <a:avLst/>
          </a:prstGeom>
          <a:solidFill>
            <a:srgbClr val="141E30"/>
          </a:solidFill>
          <a:ln w="1651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4636008" y="1508760"/>
            <a:ext cx="4023360" cy="365760"/>
          </a:xfrm>
          <a:prstGeom prst="rect">
            <a:avLst/>
          </a:prstGeom>
          <a:solidFill>
            <a:srgbClr val="7B2FFF">
              <a:alpha val="45000"/>
            </a:srgbClr>
          </a:solidFill>
          <a:ln w="12700">
            <a:solidFill>
              <a:srgbClr val="7B2FFF">
                <a:alpha val="45000"/>
              </a:srgbClr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1554480"/>
            <a:ext cx="274320" cy="274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093208" y="1554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98424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93208" y="1965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Python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313432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093208" y="22951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FastAPI</a:t>
            </a:r>
            <a:endParaRPr lang="en-US" sz="12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2642616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093208" y="2624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Graph algorithms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384048" y="3172968"/>
            <a:ext cx="4023360" cy="1481328"/>
          </a:xfrm>
          <a:prstGeom prst="rect">
            <a:avLst/>
          </a:prstGeom>
          <a:solidFill>
            <a:srgbClr val="141E30"/>
          </a:solidFill>
          <a:ln w="1651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7" name="Shape 16"/>
          <p:cNvSpPr/>
          <p:nvPr/>
        </p:nvSpPr>
        <p:spPr>
          <a:xfrm>
            <a:off x="384048" y="3172968"/>
            <a:ext cx="4023360" cy="365760"/>
          </a:xfrm>
          <a:prstGeom prst="rect">
            <a:avLst/>
          </a:prstGeom>
          <a:solidFill>
            <a:srgbClr val="FF4D6D">
              <a:alpha val="45000"/>
            </a:srgbClr>
          </a:solidFill>
          <a:ln w="12700">
            <a:solidFill>
              <a:srgbClr val="FF4D6D">
                <a:alpha val="45000"/>
              </a:srgbClr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" y="3218688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841248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AI / ML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3648456"/>
            <a:ext cx="201168" cy="20116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841248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NetworkX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3977640"/>
            <a:ext cx="201168" cy="20116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841248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Graph Neural Nets</a:t>
            </a:r>
            <a:endParaRPr lang="en-US" sz="12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306824"/>
            <a:ext cx="201168" cy="20116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841248" y="4288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Prediction</a:t>
            </a:r>
            <a:endParaRPr lang="en-US" sz="1200" dirty="0"/>
          </a:p>
        </p:txBody>
      </p:sp>
      <p:sp>
        <p:nvSpPr>
          <p:cNvPr id="36" name="Shape 21"/>
          <p:cNvSpPr/>
          <p:nvPr/>
        </p:nvSpPr>
        <p:spPr>
          <a:xfrm>
            <a:off x="4636008" y="3172968"/>
            <a:ext cx="4023360" cy="1481328"/>
          </a:xfrm>
          <a:prstGeom prst="rect">
            <a:avLst/>
          </a:prstGeom>
          <a:solidFill>
            <a:srgbClr val="141E30"/>
          </a:solidFill>
          <a:ln w="16510">
            <a:solidFill>
              <a:srgbClr val="FFB70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7" name="Shape 22"/>
          <p:cNvSpPr/>
          <p:nvPr/>
        </p:nvSpPr>
        <p:spPr>
          <a:xfrm>
            <a:off x="4636008" y="3172968"/>
            <a:ext cx="4023360" cy="365760"/>
          </a:xfrm>
          <a:prstGeom prst="rect">
            <a:avLst/>
          </a:prstGeom>
          <a:solidFill>
            <a:srgbClr val="FFB703">
              <a:alpha val="45000"/>
            </a:srgbClr>
          </a:solidFill>
          <a:ln w="12700">
            <a:solidFill>
              <a:srgbClr val="FFB703">
                <a:alpha val="45000"/>
              </a:srgbClr>
            </a:solidFill>
            <a:prstDash val="solid"/>
          </a:ln>
        </p:spPr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27448" y="3218688"/>
            <a:ext cx="274320" cy="27432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093208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00600" y="3648456"/>
            <a:ext cx="201168" cy="201168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5093208" y="3630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Neo4j (Graph DB)</a:t>
            </a:r>
            <a:endParaRPr lang="en-US" sz="1200" dirty="0"/>
          </a:p>
        </p:txBody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0600" y="3977640"/>
            <a:ext cx="201168" cy="201168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5093208" y="39593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MongoDB</a:t>
            </a:r>
            <a:endParaRPr lang="en-US" sz="12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00600" y="4306824"/>
            <a:ext cx="201168" cy="201168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5093208" y="42885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</a:rPr>
              <a:t>Redis cache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" y="2743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B703"/>
                </a:solidFill>
              </a:rPr>
              <a:t>WHY THIS WINS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1148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First-of-its-kind. No GitHub repos. Only research papers.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11480" y="1463040"/>
            <a:ext cx="8321040" cy="685800"/>
          </a:xfrm>
          <a:prstGeom prst="rect">
            <a:avLst/>
          </a:prstGeom>
          <a:solidFill>
            <a:srgbClr val="FFB703">
              <a:alpha val="22000"/>
            </a:srgbClr>
          </a:solidFill>
          <a:ln w="15240">
            <a:solidFill>
              <a:srgbClr val="FFB70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52704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703"/>
                </a:solidFill>
              </a:rPr>
              <a:t>🏆  We are probably the FIRST team to productize this concept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84048" y="2304288"/>
            <a:ext cx="4251960" cy="804672"/>
          </a:xfrm>
          <a:prstGeom prst="rect">
            <a:avLst/>
          </a:prstGeom>
          <a:solidFill>
            <a:srgbClr val="141E30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2304288"/>
            <a:ext cx="155448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48716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33856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Deep Technical Moat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33856" y="2724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Graph DB + GNN + real-time cascade logic — judges see effort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84048" y="3218688"/>
            <a:ext cx="4251960" cy="804672"/>
          </a:xfrm>
          <a:prstGeom prst="rect">
            <a:avLst/>
          </a:prstGeom>
          <a:solidFill>
            <a:srgbClr val="141E30"/>
          </a:solidFill>
          <a:ln w="1270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84048" y="3218688"/>
            <a:ext cx="155448" cy="804672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4015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33856" y="3291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Multi-Domain Scalability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33856" y="36393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Finance, healthcare, smart cities — same engine, new domains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4048" y="4133088"/>
            <a:ext cx="4251960" cy="804672"/>
          </a:xfrm>
          <a:prstGeom prst="rect">
            <a:avLst/>
          </a:prstGeom>
          <a:solidFill>
            <a:srgbClr val="141E30"/>
          </a:solidFill>
          <a:ln w="1270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84048" y="4133088"/>
            <a:ext cx="155448" cy="804672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31596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33856" y="42062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High Real-World Impact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1133856" y="45537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Saving lives &amp; billions in disaster response costs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64608" y="2304288"/>
            <a:ext cx="4251960" cy="804672"/>
          </a:xfrm>
          <a:prstGeom prst="rect">
            <a:avLst/>
          </a:prstGeom>
          <a:solidFill>
            <a:srgbClr val="141E30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4608" y="2304288"/>
            <a:ext cx="155448" cy="80467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496" y="2487168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14416" y="2377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Novel Research Application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614416" y="2724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Translating academic papers into a real product is rare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864608" y="3218688"/>
            <a:ext cx="4251960" cy="804672"/>
          </a:xfrm>
          <a:prstGeom prst="rect">
            <a:avLst/>
          </a:prstGeom>
          <a:solidFill>
            <a:srgbClr val="141E30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864608" y="3218688"/>
            <a:ext cx="155448" cy="80467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1496" y="3401568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614416" y="32918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Strong AI System Feel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5614416" y="36393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BEC5"/>
                </a:solidFill>
              </a:rPr>
              <a:t>Judges love autonomous AI with explainable decisions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256032"/>
            <a:ext cx="475488" cy="475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42416" y="2743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6D6A0"/>
                </a:solidFill>
              </a:rPr>
              <a:t>FUTURE SCALABILITY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38912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From disaster prototype → Enterprise platform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38912" y="2057400"/>
            <a:ext cx="8339328" cy="54864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44752" y="1920240"/>
            <a:ext cx="292608" cy="29260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38912" y="2359152"/>
            <a:ext cx="2606040" cy="2377440"/>
          </a:xfrm>
          <a:prstGeom prst="rect">
            <a:avLst/>
          </a:prstGeom>
          <a:solidFill>
            <a:srgbClr val="141E30"/>
          </a:solidFill>
          <a:ln w="17780">
            <a:solidFill>
              <a:srgbClr val="FF4D6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38912" y="2359152"/>
            <a:ext cx="2606040" cy="347472"/>
          </a:xfrm>
          <a:prstGeom prst="rect">
            <a:avLst/>
          </a:prstGeom>
          <a:solidFill>
            <a:srgbClr val="FF4D6D">
              <a:alpha val="50000"/>
            </a:srgbClr>
          </a:solidFill>
          <a:ln w="12700">
            <a:solidFill>
              <a:srgbClr val="FF4D6D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2816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D6D"/>
                </a:solidFill>
              </a:rPr>
              <a:t>Prototype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3337560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Disaster dependency demo, graph visualization, basic prediction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42232" y="1920240"/>
            <a:ext cx="292608" cy="292608"/>
          </a:xfrm>
          <a:prstGeom prst="ellipse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6392" y="2359152"/>
            <a:ext cx="2606040" cy="2377440"/>
          </a:xfrm>
          <a:prstGeom prst="rect">
            <a:avLst/>
          </a:prstGeom>
          <a:solidFill>
            <a:srgbClr val="141E30"/>
          </a:solidFill>
          <a:ln w="17780">
            <a:solidFill>
              <a:srgbClr val="7B2F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36392" y="2359152"/>
            <a:ext cx="2606040" cy="347472"/>
          </a:xfrm>
          <a:prstGeom prst="rect">
            <a:avLst/>
          </a:prstGeom>
          <a:solidFill>
            <a:srgbClr val="7B2FFF">
              <a:alpha val="50000"/>
            </a:srgbClr>
          </a:solidFill>
          <a:ln w="12700">
            <a:solidFill>
              <a:srgbClr val="7B2FFF">
                <a:alpha val="5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2783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246120" y="2816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B2FFF"/>
                </a:solidFill>
              </a:rPr>
              <a:t>Domain Expansion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46120" y="3337560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Healthcare, finance, supply chain — plug-in architecture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39712" y="1920240"/>
            <a:ext cx="292608" cy="29260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33872" y="2359152"/>
            <a:ext cx="2606040" cy="2377440"/>
          </a:xfrm>
          <a:prstGeom prst="rect">
            <a:avLst/>
          </a:prstGeom>
          <a:solidFill>
            <a:srgbClr val="141E30"/>
          </a:solidFill>
          <a:ln w="1778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33872" y="2359152"/>
            <a:ext cx="2606040" cy="347472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25312" y="23774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943600" y="2816352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Decision-as-a-Service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43600" y="3337560"/>
            <a:ext cx="23957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</a:rPr>
              <a:t>B2B SaaS — governments and enterprises pay per prediction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8912" y="4681728"/>
            <a:ext cx="8339328" cy="347472"/>
          </a:xfrm>
          <a:prstGeom prst="rect">
            <a:avLst/>
          </a:prstGeom>
          <a:solidFill>
            <a:srgbClr val="06D6A0">
              <a:alpha val="20000"/>
            </a:srgbClr>
          </a:solidFill>
          <a:ln w="12700">
            <a:solidFill>
              <a:srgbClr val="06D6A0">
                <a:alpha val="4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Global Disaster Risk Reduction Market: $350B+ by 2030  •  AI Decision Intelligence: $18B by 2027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7B2FFF">
              <a:alpha val="13000"/>
            </a:srgbClr>
          </a:solidFill>
          <a:ln w="12700">
            <a:solidFill>
              <a:srgbClr val="7B2FFF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FF4D6D">
              <a:alpha val="13000"/>
            </a:srgbClr>
          </a:solidFill>
          <a:ln w="12700">
            <a:solidFill>
              <a:srgbClr val="FF4D6D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7680960" cy="3200400"/>
          </a:xfrm>
          <a:prstGeom prst="rect">
            <a:avLst/>
          </a:prstGeom>
          <a:solidFill>
            <a:srgbClr val="141E30">
              <a:alpha val="80000"/>
            </a:srgbClr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00D4FF"/>
                </a:solidFill>
              </a:rPr>
              <a:t>DEPENDENCY MAPPING ENGINE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1572768"/>
            <a:ext cx="4572000" cy="36576"/>
          </a:xfrm>
          <a:prstGeom prst="rect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FFFF"/>
                </a:solidFill>
              </a:rPr>
              <a:t>"We don't just analyze data —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26771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i="1" dirty="0">
                <a:solidFill>
                  <a:srgbClr val="FF4D6D"/>
                </a:solidFill>
              </a:rPr>
              <a:t>we understand how everything connects."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286000" y="2907792"/>
            <a:ext cx="4572000" cy="36576"/>
          </a:xfrm>
          <a:prstGeom prst="rect">
            <a:avLst/>
          </a:prstGeom>
          <a:solidFill>
            <a:srgbClr val="FF4D6D">
              <a:alpha val="45000"/>
            </a:srgbClr>
          </a:solidFill>
          <a:ln w="12700">
            <a:solidFill>
              <a:srgbClr val="FF4D6D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035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AI Relationship Analyzer  •  Disaster Dependency Focus  •  First-of-its-Kind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Graph AI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01368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56232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NetworkX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91256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46120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Neo4j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81144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36008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Real-time Prediction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71032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25896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D3.js Visualization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60920" y="4370832"/>
            <a:ext cx="1261872" cy="411480"/>
          </a:xfrm>
          <a:prstGeom prst="rect">
            <a:avLst/>
          </a:prstGeom>
          <a:solidFill>
            <a:srgbClr val="141E3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15784" y="43891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EC5"/>
                </a:solidFill>
              </a:rPr>
              <a:t>Python Backend</a:t>
            </a:r>
            <a:endParaRPr lang="en-US" sz="9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5968" y="466344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Dependency Mapping Engine</dc:title>
  <dc:subject>PptxGenJS Presentation</dc:subject>
  <dc:creator>PptxGenJS</dc:creator>
  <cp:lastModifiedBy>PptxGenJS</cp:lastModifiedBy>
  <cp:revision>1</cp:revision>
  <dcterms:created xsi:type="dcterms:W3CDTF">2026-04-11T09:12:02Z</dcterms:created>
  <dcterms:modified xsi:type="dcterms:W3CDTF">2026-04-11T09:12:02Z</dcterms:modified>
</cp:coreProperties>
</file>